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AndText" preserve="1">
  <p:cSld name="Title and Conten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Employee Navigator CTO Interview Technical Deck</a:t>
            </a:r>
          </a:p>
        </p:txBody>
      </p:sp>
      <p:sp>
        <p:nvSpPr>
          <p:cNvPr id="3" name="Body"/>
          <p:cNvSpPr/>
          <p:nvPr/>
        </p:nvSpPr>
        <p:spPr>
          <a:xfrm>
            <a:off x="457200" y="1257300"/>
            <a:ext cx="8229600" cy="4064000"/>
          </a:xfrm>
        </p:spPr>
        <p:txBody>
          <a:bodyPr/>
          <a:lstStyle/>
          <a:p>
            <a:pPr marL="342900" indent="-171450">
              <a:buChar char="•"/>
            </a:pPr>
            <a:r>
              <a:rPr lang="en-US" sz="1800" solidFill="F5F7FA"/>
              <a:t>Parker Wright, Senior Product Manager</a:t>
            </a:r>
          </a:p>
          <a:p>
            <a:pPr marL="342900" indent="-171450">
              <a:buChar char="•"/>
            </a:pPr>
            <a:r>
              <a:rPr lang="en-US" sz="1800" solidFill="F5F7FA"/>
              <a:t>Technical Product Perspective on Platform Systems</a:t>
            </a:r>
          </a:p>
          <a:p>
            <a:pPr marL="342900" indent="-171450">
              <a:buChar char="•"/>
            </a:pPr>
            <a:r>
              <a:rPr lang="en-US" sz="1800" solidFill="F5F7FA"/>
              <a:t>Built for final-round CTO conversation</a:t>
            </a:r>
          </a:p>
        </p:txBody>
      </p:sp>
      <p:sp>
        <p:nvSpPr>
          <p:cNvPr id="4" name="Footer"/>
          <p:cNvSpPr/>
          <p:nvPr/>
        </p:nvSpPr>
        <p:spPr>
          <a:xfrm>
            <a:off x="457200" y="5791200"/>
            <a:ext cx="8229600" cy="342900"/>
          </a:xfrm>
        </p:spPr>
        <p:txBody>
          <a:bodyPr/>
          <a:lstStyle/>
          <a:p>
            <a:r>
              <a:rPr lang="en-US" sz="1300" solidFill="9FB0C0"/>
              <a:t>Cover slide with company-themed styling + Reddit-inspired 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31" name="DividerBar"/>
          <p:cNvSpPr/>
          <p:nvPr/>
        </p:nvSpPr>
        <p:spPr>
          <a:xfrm>
            <a:off x="457200" y="2286000"/>
            <a:ext cx="4000000" cy="68580"/>
          </a:xfrm>
          <a:prstGeom prst="rect">
            <a:avLst/>
          </a:prstGeom>
          <a:solidFill>
            <a:srgbClr val="003388">
              <a:alpha val="100000"/>
            </a:srgbClr>
          </a:solidFill>
          <a:ln>
            <a:noFill/>
          </a:ln>
        </p:spPr>
      </p:sp>
      <p:sp>
        <p:nvSpPr>
          <p:cNvPr id="32" name="DividerGlow"/>
          <p:cNvSpPr/>
          <p:nvPr/>
        </p:nvSpPr>
        <p:spPr>
          <a:xfrm>
            <a:off x="457200" y="2194500"/>
            <a:ext cx="4200000" cy="228600"/>
          </a:xfrm>
          <a:prstGeom prst="rect">
            <a:avLst/>
          </a:prstGeom>
          <a:solidFill>
            <a:srgbClr val="FF7B4D">
              <a:alpha val="18000"/>
            </a:srgbClr>
          </a:solidFill>
          <a:ln>
            <a:noFill/>
          </a:ln>
        </p:spPr>
      </p:sp>
      <p:sp>
        <p:nvSpPr>
          <p:cNvPr id="2" name="Title"/>
          <p:cNvSpPr/>
          <p:nvPr/>
        </p:nvSpPr>
        <p:spPr>
          <a:xfrm>
            <a:off x="457200" y="228600"/>
            <a:ext cx="8229600" cy="914400"/>
          </a:xfrm>
        </p:spPr>
        <p:txBody>
          <a:bodyPr/>
          <a:lstStyle/>
          <a:p>
            <a:r>
              <a:rPr lang="en-US" sz="3200" b="1" solidFill="003388"/>
              <a:t>Employee Navigator: Context and Strategic Focus</a:t>
            </a:r>
          </a:p>
        </p:txBody>
      </p:sp>
      <p:sp>
        <p:nvSpPr>
          <p:cNvPr id="3" name="Body"/>
          <p:cNvSpPr/>
          <p:nvPr/>
        </p:nvSpPr>
        <p:spPr>
          <a:xfrm>
            <a:off x="457200" y="1257300"/>
            <a:ext cx="8229600" cy="4064000"/>
          </a:xfrm>
        </p:spPr>
        <p:txBody>
          <a:bodyPr/>
          <a:lstStyle/>
          <a:p>
            <a:r>
              <a:rPr lang="en-US" sz="2400" solidFill="F5F7FA"/>
              <a:t>Role target: Product Manager</a:t>
            </a:r>
          </a:p>
        </p:txBody>
      </p:sp>
      <p:sp>
        <p:nvSpPr>
          <p:cNvPr id="4" name="Footer"/>
          <p:cNvSpPr/>
          <p:nvPr/>
        </p:nvSpPr>
        <p:spPr>
          <a:xfrm>
            <a:off x="457200" y="5791200"/>
            <a:ext cx="8229600" cy="342900"/>
          </a:xfrm>
        </p:spPr>
        <p:txBody>
          <a:bodyPr/>
          <a:lstStyle/>
          <a:p>
            <a:r>
              <a:rPr lang="en-US" sz="1300" solidFill="9FB0C0"/>
              <a:t>User-specified focus: Partnership opportunities and monetization paths with explicit assumptions, risk-adjusted ROI, and implementation timeline.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Introduction</a:t>
            </a:r>
          </a:p>
        </p:txBody>
      </p:sp>
      <p:sp>
        <p:nvSpPr>
          <p:cNvPr id="3" name="Body"/>
          <p:cNvSpPr/>
          <p:nvPr/>
        </p:nvSpPr>
        <p:spPr>
          <a:xfrm>
            <a:off x="457200" y="1257300"/>
            <a:ext cx="8229600" cy="4064000"/>
          </a:xfrm>
        </p:spPr>
        <p:txBody>
          <a:bodyPr/>
          <a:lstStyle/>
          <a:p>
            <a:pPr marL="342900" indent="-171450">
              <a:buChar char="•"/>
            </a:pPr>
            <a:r>
              <a:rPr lang="en-US" sz="1800" solidFill="F5F7FA"/>
              <a:t>Product manager with API, data, and platform depth.</a:t>
            </a:r>
          </a:p>
          <a:p>
            <a:pPr marL="342900" indent="-171450">
              <a:buChar char="•"/>
            </a:pPr>
            <a:r>
              <a:rPr lang="en-US" sz="1800" solidFill="F5F7FA"/>
              <a:t>Works closely with engineering on scalable systems and operating models.</a:t>
            </a:r>
          </a:p>
          <a:p>
            <a:pPr marL="342900" indent="-171450">
              <a:buChar char="•"/>
            </a:pPr>
            <a:r>
              <a:rPr lang="en-US" sz="1800" solidFill="F5F7FA"/>
              <a:t>Transition: technical architecture, trade-offs, and partnership strategy for Employee Navigator.</a:t>
            </a:r>
          </a:p>
        </p:txBody>
      </p:sp>
      <p:sp>
        <p:nvSpPr>
          <p:cNvPr id="4" name="Footer"/>
          <p:cNvSpPr/>
          <p:nvPr/>
        </p:nvSpPr>
        <p:spPr>
          <a:xfrm>
            <a:off x="457200" y="5791200"/>
            <a:ext cx="8229600" cy="342900"/>
          </a:xfrm>
        </p:spPr>
        <p:txBody>
          <a:bodyPr/>
          <a:lstStyle/>
          <a:p>
            <a:r>
              <a:rPr lang="en-US" sz="1300" solidFill="9FB0C0"/>
              <a:t>User-specified focus: Partnership opportunities and monetization paths with explicit assumptions, risk-adjusted ROI, and implementation timeline.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Technology Stack: Frontend</a:t>
            </a:r>
          </a:p>
        </p:txBody>
      </p:sp>
      <p:sp>
        <p:nvSpPr>
          <p:cNvPr id="3" name="Body"/>
          <p:cNvSpPr/>
          <p:nvPr/>
        </p:nvSpPr>
        <p:spPr>
          <a:xfrm>
            <a:off x="457200" y="1257300"/>
            <a:ext cx="8229600" cy="4064000"/>
          </a:xfrm>
        </p:spPr>
        <p:txBody>
          <a:bodyPr/>
          <a:lstStyle/>
          <a:p>
            <a:pPr marL="342900" indent="-171450">
              <a:buChar char="•"/>
            </a:pPr>
            <a:r>
              <a:rPr lang="en-US" sz="1800" solidFill="F5F7FA"/>
              <a:t>React + TypeScript for composable product surfaces and rapid iteration.</a:t>
            </a:r>
          </a:p>
          <a:p>
            <a:pPr marL="342900" indent="-171450">
              <a:buChar char="•"/>
            </a:pPr>
            <a:r>
              <a:rPr lang="en-US" sz="1800" solidFill="F5F7FA"/>
              <a:t>Native mobile (iOS/Android) for high-engagement workflows.</a:t>
            </a:r>
          </a:p>
          <a:p>
            <a:pPr marL="342900" indent="-171450">
              <a:buChar char="•"/>
            </a:pPr>
            <a:r>
              <a:rPr lang="en-US" sz="1800" solidFill="F5F7FA"/>
              <a:t>Clear ownership between interface layer and experimentation systems.</a:t>
            </a:r>
          </a:p>
        </p:txBody>
      </p:sp>
      <p:sp>
        <p:nvSpPr>
          <p:cNvPr id="4" name="Footer"/>
          <p:cNvSpPr/>
          <p:nvPr/>
        </p:nvSpPr>
        <p:spPr>
          <a:xfrm>
            <a:off x="457200" y="5791200"/>
            <a:ext cx="8229600" cy="342900"/>
          </a:xfrm>
        </p:spPr>
        <p:txBody>
          <a:bodyPr/>
          <a:lstStyle/>
          <a:p>
            <a:r>
              <a:rPr lang="en-US" sz="1300" solidFill="9FB0C0"/>
              <a:t>Observed stack signals from job + company site: Vue, Node.js, Kubernetes, GCP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Technology Stack: Backend</a:t>
            </a:r>
          </a:p>
        </p:txBody>
      </p:sp>
      <p:sp>
        <p:nvSpPr>
          <p:cNvPr id="3" name="Body"/>
          <p:cNvSpPr/>
          <p:nvPr/>
        </p:nvSpPr>
        <p:spPr>
          <a:xfrm>
            <a:off x="457200" y="1257300"/>
            <a:ext cx="8229600" cy="4064000"/>
          </a:xfrm>
        </p:spPr>
        <p:txBody>
          <a:bodyPr/>
          <a:lstStyle/>
          <a:p>
            <a:pPr marL="342900" indent="-171450">
              <a:buChar char="•"/>
            </a:pPr>
            <a:r>
              <a:rPr lang="en-US" sz="1800" solidFill="F5F7FA"/>
              <a:t>Python for speed of product iteration and service flexibility.</a:t>
            </a:r>
          </a:p>
          <a:p>
            <a:pPr marL="342900" indent="-171450">
              <a:buChar char="•"/>
            </a:pPr>
            <a:r>
              <a:rPr lang="en-US" sz="1800" solidFill="F5F7FA"/>
              <a:t>Go for performance-critical, concurrent service paths.</a:t>
            </a:r>
          </a:p>
          <a:p>
            <a:pPr marL="342900" indent="-171450">
              <a:buChar char="•"/>
            </a:pPr>
            <a:r>
              <a:rPr lang="en-US" sz="1800" solidFill="F5F7FA"/>
              <a:t>API and real-time service boundaries improve reliability and ownership.</a:t>
            </a:r>
          </a:p>
        </p:txBody>
      </p:sp>
      <p:sp>
        <p:nvSpPr>
          <p:cNvPr id="4" name="Footer"/>
          <p:cNvSpPr/>
          <p:nvPr/>
        </p:nvSpPr>
        <p:spPr>
          <a:xfrm>
            <a:off x="457200" y="5791200"/>
            <a:ext cx="8229600" cy="342900"/>
          </a:xfrm>
        </p:spPr>
        <p:txBody>
          <a:bodyPr/>
          <a:lstStyle/>
          <a:p>
            <a:r>
              <a:rPr lang="en-US" sz="1300" solidFill="9FB0C0"/>
              <a:t>Role context: Product Manager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Database + Infrastructure</a:t>
            </a:r>
          </a:p>
        </p:txBody>
      </p:sp>
      <p:sp>
        <p:nvSpPr>
          <p:cNvPr id="3" name="Body"/>
          <p:cNvSpPr/>
          <p:nvPr/>
        </p:nvSpPr>
        <p:spPr>
          <a:xfrm>
            <a:off x="457200" y="1257300"/>
            <a:ext cx="8229600" cy="4064000"/>
          </a:xfrm>
        </p:spPr>
        <p:txBody>
          <a:bodyPr/>
          <a:lstStyle/>
          <a:p>
            <a:pPr marL="342900" indent="-171450">
              <a:buChar char="•"/>
            </a:pPr>
            <a:r>
              <a:rPr lang="en-US" sz="1800" solidFill="F5F7FA"/>
              <a:t>PostgreSQL for relational and transactional systems of record.</a:t>
            </a:r>
          </a:p>
          <a:p>
            <a:pPr marL="342900" indent="-171450">
              <a:buChar char="•"/>
            </a:pPr>
            <a:r>
              <a:rPr lang="en-US" sz="1800" solidFill="F5F7FA"/>
              <a:t>Cassandra for distributed, high-throughput interaction streams.</a:t>
            </a:r>
          </a:p>
          <a:p>
            <a:pPr marL="342900" indent="-171450">
              <a:buChar char="•"/>
            </a:pPr>
            <a:r>
              <a:rPr lang="en-US" sz="1800" solidFill="F5F7FA"/>
              <a:t>Redis + CDN + cloud primitives for low-latency delivery.</a:t>
            </a:r>
          </a:p>
        </p:txBody>
      </p:sp>
      <p:sp>
        <p:nvSpPr>
          <p:cNvPr id="4" name="Footer"/>
          <p:cNvSpPr/>
          <p:nvPr/>
        </p:nvSpPr>
        <p:spPr>
          <a:xfrm>
            <a:off x="457200" y="5791200"/>
            <a:ext cx="8229600" cy="342900"/>
          </a:xfrm>
        </p:spPr>
        <p:txBody>
          <a:bodyPr/>
          <a:lstStyle/>
          <a:p>
            <a:r>
              <a:rPr lang="en-US" sz="1300" solidFill="9FB0C0"/>
              <a:t>Company research source: cache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31" name="DividerBar"/>
          <p:cNvSpPr/>
          <p:nvPr/>
        </p:nvSpPr>
        <p:spPr>
          <a:xfrm>
            <a:off x="457200" y="2286000"/>
            <a:ext cx="4000000" cy="68580"/>
          </a:xfrm>
          <a:prstGeom prst="rect">
            <a:avLst/>
          </a:prstGeom>
          <a:solidFill>
            <a:srgbClr val="003388">
              <a:alpha val="100000"/>
            </a:srgbClr>
          </a:solidFill>
          <a:ln>
            <a:noFill/>
          </a:ln>
        </p:spPr>
      </p:sp>
      <p:sp>
        <p:nvSpPr>
          <p:cNvPr id="32" name="DividerGlow"/>
          <p:cNvSpPr/>
          <p:nvPr/>
        </p:nvSpPr>
        <p:spPr>
          <a:xfrm>
            <a:off x="457200" y="2194500"/>
            <a:ext cx="4200000" cy="228600"/>
          </a:xfrm>
          <a:prstGeom prst="rect">
            <a:avLst/>
          </a:prstGeom>
          <a:solidFill>
            <a:srgbClr val="FF7B4D">
              <a:alpha val="18000"/>
            </a:srgbClr>
          </a:solidFill>
          <a:ln>
            <a:noFill/>
          </a:ln>
        </p:spPr>
      </p:sp>
      <p:sp>
        <p:nvSpPr>
          <p:cNvPr id="2" name="Title"/>
          <p:cNvSpPr/>
          <p:nvPr/>
        </p:nvSpPr>
        <p:spPr>
          <a:xfrm>
            <a:off x="457200" y="228600"/>
            <a:ext cx="8229600" cy="914400"/>
          </a:xfrm>
        </p:spPr>
        <p:txBody>
          <a:bodyPr/>
          <a:lstStyle/>
          <a:p>
            <a:r>
              <a:rPr lang="en-US" sz="3200" b="1" solidFill="003388"/>
              <a:t>Architecture and Data Systems</a:t>
            </a:r>
          </a:p>
        </p:txBody>
      </p:sp>
      <p:sp>
        <p:nvSpPr>
          <p:cNvPr id="3" name="Body"/>
          <p:cNvSpPr/>
          <p:nvPr/>
        </p:nvSpPr>
        <p:spPr>
          <a:xfrm>
            <a:off x="457200" y="1257300"/>
            <a:ext cx="8229600" cy="4064000"/>
          </a:xfrm>
        </p:spPr>
        <p:txBody>
          <a:bodyPr/>
          <a:lstStyle/>
          <a:p>
            <a:r>
              <a:rPr lang="en-US" sz="2400" solidFill="F5F7FA"/>
              <a:t>Platform architecture primitives and scaling patterns</a:t>
            </a:r>
          </a:p>
        </p:txBody>
      </p:sp>
      <p:sp>
        <p:nvSpPr>
          <p:cNvPr id="4" name="Footer"/>
          <p:cNvSpPr/>
          <p:nvPr/>
        </p:nvSpPr>
        <p:spPr>
          <a:xfrm>
            <a:off x="457200" y="5791200"/>
            <a:ext cx="8229600" cy="342900"/>
          </a:xfrm>
        </p:spPr>
        <p:txBody>
          <a:bodyPr/>
          <a:lstStyle/>
          <a:p>
            <a:r>
              <a:rPr lang="en-US" sz="1300" solidFill="9FB0C0"/>
              <a:t>Focus: service boundaries, controls, and reliability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80" name="Node1"/>
          <p:cNvSpPr/>
          <p:nvPr/>
        </p:nvSpPr>
        <p:spPr>
          <a:xfrm>
            <a:off x="640080" y="2103120"/>
            <a:ext cx="1143000" cy="548640"/>
          </a:xfrm>
          <a:prstGeom prst="rect">
            <a:avLst/>
          </a:prstGeom>
          <a:solidFill>
            <a:srgbClr val="FF7B4D">
              <a:alpha val="18000"/>
            </a:srgbClr>
          </a:solidFill>
          <a:ln>
            <a:noFill/>
          </a:ln>
        </p:spPr>
      </p:sp>
      <p:sp>
        <p:nvSpPr>
          <p:cNvPr id="81" name="NodeText1"/>
          <p:cNvSpPr/>
          <p:nvPr/>
        </p:nvSpPr>
        <p:spPr>
          <a:xfrm>
            <a:off x="708660" y="2205990"/>
            <a:ext cx="1005840" cy="342900"/>
          </a:xfrm>
        </p:spPr>
        <p:txBody>
          <a:bodyPr/>
          <a:lstStyle/>
          <a:p>
            <a:r>
              <a:rPr lang="en-US" sz="1200" b="1" solidFill="F5F7FA"/>
              <a:t>Client Apps</a:t>
            </a:r>
          </a:p>
        </p:txBody>
      </p:sp>
      <p:sp>
        <p:nvSpPr>
          <p:cNvPr id="82" name="Node2"/>
          <p:cNvSpPr/>
          <p:nvPr/>
        </p:nvSpPr>
        <p:spPr>
          <a:xfrm>
            <a:off x="2331720" y="2103120"/>
            <a:ext cx="1371600" cy="548640"/>
          </a:xfrm>
          <a:prstGeom prst="rect">
            <a:avLst/>
          </a:prstGeom>
          <a:solidFill>
            <a:srgbClr val="FF7B4D">
              <a:alpha val="18000"/>
            </a:srgbClr>
          </a:solidFill>
          <a:ln>
            <a:noFill/>
          </a:ln>
        </p:spPr>
      </p:sp>
      <p:sp>
        <p:nvSpPr>
          <p:cNvPr id="83" name="NodeText2"/>
          <p:cNvSpPr/>
          <p:nvPr/>
        </p:nvSpPr>
        <p:spPr>
          <a:xfrm>
            <a:off x="2400300" y="2205990"/>
            <a:ext cx="1234440" cy="342900"/>
          </a:xfrm>
        </p:spPr>
        <p:txBody>
          <a:bodyPr/>
          <a:lstStyle/>
          <a:p>
            <a:r>
              <a:rPr lang="en-US" sz="1200" b="1" solidFill="F5F7FA"/>
              <a:t>API Gateway</a:t>
            </a:r>
          </a:p>
        </p:txBody>
      </p:sp>
      <p:sp>
        <p:nvSpPr>
          <p:cNvPr id="84" name="Node3"/>
          <p:cNvSpPr/>
          <p:nvPr/>
        </p:nvSpPr>
        <p:spPr>
          <a:xfrm>
            <a:off x="4251960" y="2103120"/>
            <a:ext cx="1463040" cy="548640"/>
          </a:xfrm>
          <a:prstGeom prst="rect">
            <a:avLst/>
          </a:prstGeom>
          <a:solidFill>
            <a:srgbClr val="FF7B4D">
              <a:alpha val="18000"/>
            </a:srgbClr>
          </a:solidFill>
          <a:ln>
            <a:noFill/>
          </a:ln>
        </p:spPr>
      </p:sp>
      <p:sp>
        <p:nvSpPr>
          <p:cNvPr id="85" name="NodeText3"/>
          <p:cNvSpPr/>
          <p:nvPr/>
        </p:nvSpPr>
        <p:spPr>
          <a:xfrm>
            <a:off x="4320540" y="2205990"/>
            <a:ext cx="1325880" cy="342900"/>
          </a:xfrm>
        </p:spPr>
        <p:txBody>
          <a:bodyPr/>
          <a:lstStyle/>
          <a:p>
            <a:r>
              <a:rPr lang="en-US" sz="1200" b="1" solidFill="F5F7FA"/>
              <a:t>Service Mesh</a:t>
            </a:r>
          </a:p>
        </p:txBody>
      </p:sp>
      <p:sp>
        <p:nvSpPr>
          <p:cNvPr id="86" name="Node4"/>
          <p:cNvSpPr/>
          <p:nvPr/>
        </p:nvSpPr>
        <p:spPr>
          <a:xfrm>
            <a:off x="5943600" y="1325880"/>
            <a:ext cx="1463040" cy="548640"/>
          </a:xfrm>
          <a:prstGeom prst="rect">
            <a:avLst/>
          </a:prstGeom>
          <a:solidFill>
            <a:srgbClr val="FF7B4D">
              <a:alpha val="18000"/>
            </a:srgbClr>
          </a:solidFill>
          <a:ln>
            <a:noFill/>
          </a:ln>
        </p:spPr>
      </p:sp>
      <p:sp>
        <p:nvSpPr>
          <p:cNvPr id="87" name="NodeText4"/>
          <p:cNvSpPr/>
          <p:nvPr/>
        </p:nvSpPr>
        <p:spPr>
          <a:xfrm>
            <a:off x="6012180" y="1428750"/>
            <a:ext cx="1325880" cy="342900"/>
          </a:xfrm>
        </p:spPr>
        <p:txBody>
          <a:bodyPr/>
          <a:lstStyle/>
          <a:p>
            <a:r>
              <a:rPr lang="en-US" sz="1200" b="1" solidFill="F5F7FA"/>
              <a:t>Trust &amp; Policy</a:t>
            </a:r>
          </a:p>
        </p:txBody>
      </p:sp>
      <p:sp>
        <p:nvSpPr>
          <p:cNvPr id="88" name="Node5"/>
          <p:cNvSpPr/>
          <p:nvPr/>
        </p:nvSpPr>
        <p:spPr>
          <a:xfrm>
            <a:off x="5943600" y="2964180"/>
            <a:ext cx="1463040" cy="548640"/>
          </a:xfrm>
          <a:prstGeom prst="rect">
            <a:avLst/>
          </a:prstGeom>
          <a:solidFill>
            <a:srgbClr val="FF7B4D">
              <a:alpha val="18000"/>
            </a:srgbClr>
          </a:solidFill>
          <a:ln>
            <a:noFill/>
          </a:ln>
        </p:spPr>
      </p:sp>
      <p:sp>
        <p:nvSpPr>
          <p:cNvPr id="89" name="NodeText5"/>
          <p:cNvSpPr/>
          <p:nvPr/>
        </p:nvSpPr>
        <p:spPr>
          <a:xfrm>
            <a:off x="6012180" y="3067050"/>
            <a:ext cx="1325880" cy="342900"/>
          </a:xfrm>
        </p:spPr>
        <p:txBody>
          <a:bodyPr/>
          <a:lstStyle/>
          <a:p>
            <a:r>
              <a:rPr lang="en-US" sz="1200" b="1" solidFill="F5F7FA"/>
              <a:t>SQL + NoSQL</a:t>
            </a:r>
          </a:p>
        </p:txBody>
      </p:sp>
      <p:sp>
        <p:nvSpPr>
          <p:cNvPr id="90" name="Node6"/>
          <p:cNvSpPr/>
          <p:nvPr/>
        </p:nvSpPr>
        <p:spPr>
          <a:xfrm>
            <a:off x="7703820" y="2103120"/>
            <a:ext cx="1143000" cy="548640"/>
          </a:xfrm>
          <a:prstGeom prst="rect">
            <a:avLst/>
          </a:prstGeom>
          <a:solidFill>
            <a:srgbClr val="FF7B4D">
              <a:alpha val="18000"/>
            </a:srgbClr>
          </a:solidFill>
          <a:ln>
            <a:noFill/>
          </a:ln>
        </p:spPr>
      </p:sp>
      <p:sp>
        <p:nvSpPr>
          <p:cNvPr id="91" name="NodeText6"/>
          <p:cNvSpPr/>
          <p:nvPr/>
        </p:nvSpPr>
        <p:spPr>
          <a:xfrm>
            <a:off x="7772400" y="2205990"/>
            <a:ext cx="1005840" cy="342900"/>
          </a:xfrm>
        </p:spPr>
        <p:txBody>
          <a:bodyPr/>
          <a:lstStyle/>
          <a:p>
            <a:r>
              <a:rPr lang="en-US" sz="1200" b="1" solidFill="F5F7FA"/>
              <a:t>Observability</a:t>
            </a:r>
          </a:p>
        </p:txBody>
      </p:sp>
      <p:sp>
        <p:nvSpPr>
          <p:cNvPr id="100" name="Link1"/>
          <p:cNvSpPr/>
          <p:nvPr/>
        </p:nvSpPr>
        <p:spPr>
          <a:xfrm>
            <a:off x="1783080" y="2377440"/>
            <a:ext cx="548640" cy="45720"/>
          </a:xfrm>
          <a:prstGeom prst="rect">
            <a:avLst/>
          </a:prstGeom>
          <a:solidFill>
            <a:srgbClr val="003388">
              <a:alpha val="70000"/>
            </a:srgbClr>
          </a:solidFill>
          <a:ln>
            <a:noFill/>
          </a:ln>
        </p:spPr>
      </p:sp>
      <p:sp>
        <p:nvSpPr>
          <p:cNvPr id="101" name="Link2"/>
          <p:cNvSpPr/>
          <p:nvPr/>
        </p:nvSpPr>
        <p:spPr>
          <a:xfrm>
            <a:off x="3703320" y="2377440"/>
            <a:ext cx="548640" cy="45720"/>
          </a:xfrm>
          <a:prstGeom prst="rect">
            <a:avLst/>
          </a:prstGeom>
          <a:solidFill>
            <a:srgbClr val="003388">
              <a:alpha val="70000"/>
            </a:srgbClr>
          </a:solidFill>
          <a:ln>
            <a:noFill/>
          </a:ln>
        </p:spPr>
      </p:sp>
      <p:sp>
        <p:nvSpPr>
          <p:cNvPr id="102" name="Link3"/>
          <p:cNvSpPr/>
          <p:nvPr/>
        </p:nvSpPr>
        <p:spPr>
          <a:xfrm>
            <a:off x="5715000" y="2377440"/>
            <a:ext cx="1988820" cy="45720"/>
          </a:xfrm>
          <a:prstGeom prst="rect">
            <a:avLst/>
          </a:prstGeom>
          <a:solidFill>
            <a:srgbClr val="003388">
              <a:alpha val="70000"/>
            </a:srgbClr>
          </a:solidFill>
          <a:ln>
            <a:noFill/>
          </a:ln>
        </p:spPr>
      </p:sp>
      <p:sp>
        <p:nvSpPr>
          <p:cNvPr id="2" name="Title"/>
          <p:cNvSpPr/>
          <p:nvPr/>
        </p:nvSpPr>
        <p:spPr>
          <a:xfrm>
            <a:off x="457200" y="228600"/>
            <a:ext cx="8229600" cy="914400"/>
          </a:xfrm>
        </p:spPr>
        <p:txBody>
          <a:bodyPr/>
          <a:lstStyle/>
          <a:p>
            <a:r>
              <a:rPr lang="en-US" sz="3200" b="1" solidFill="003388"/>
              <a:t>Data Flow Architecture</a:t>
            </a:r>
          </a:p>
        </p:txBody>
      </p:sp>
      <p:sp>
        <p:nvSpPr>
          <p:cNvPr id="3" name="Body"/>
          <p:cNvSpPr/>
          <p:nvPr/>
        </p:nvSpPr>
        <p:spPr>
          <a:xfrm>
            <a:off x="457200" y="1257300"/>
            <a:ext cx="8229600" cy="4064000"/>
          </a:xfrm>
        </p:spPr>
        <p:txBody>
          <a:bodyPr/>
          <a:lstStyle/>
          <a:p>
            <a:pPr marL="342900" indent="-171450">
              <a:buChar char="•"/>
            </a:pPr>
            <a:r>
              <a:rPr lang="en-US" sz="1800" solidFill="F5F7FA"/>
              <a:t>Frontend UI -&gt; API Layer -&gt; Services Layer -&gt; Data Layer.</a:t>
            </a:r>
          </a:p>
          <a:p>
            <a:pPr marL="342900" indent="-171450">
              <a:buChar char="•"/>
            </a:pPr>
            <a:r>
              <a:rPr lang="en-US" sz="1800" solidFill="F5F7FA"/>
              <a:t>Auth, policy, ranking, and trust checks in the application layer.</a:t>
            </a:r>
          </a:p>
          <a:p>
            <a:pPr marL="342900" indent="-171450">
              <a:buChar char="•"/>
            </a:pPr>
            <a:r>
              <a:rPr lang="en-US" sz="1800" solidFill="F5F7FA"/>
              <a:t>Route reads/writes by workload to SQL, NoSQL, and cache paths.</a:t>
            </a:r>
          </a:p>
        </p:txBody>
      </p:sp>
      <p:sp>
        <p:nvSpPr>
          <p:cNvPr id="4" name="Footer"/>
          <p:cNvSpPr/>
          <p:nvPr/>
        </p:nvSpPr>
        <p:spPr>
          <a:xfrm>
            <a:off x="457200" y="5791200"/>
            <a:ext cx="8229600" cy="342900"/>
          </a:xfrm>
        </p:spPr>
        <p:txBody>
          <a:bodyPr/>
          <a:lstStyle/>
          <a:p>
            <a:r>
              <a:rPr lang="en-US" sz="1300" solidFill="9FB0C0"/>
              <a:t>Diagram-first slide in final formatting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PostgreSQL and Cassandra (Complementary)</a:t>
            </a:r>
          </a:p>
        </p:txBody>
      </p:sp>
      <p:sp>
        <p:nvSpPr>
          <p:cNvPr id="3" name="Body"/>
          <p:cNvSpPr/>
          <p:nvPr/>
        </p:nvSpPr>
        <p:spPr>
          <a:xfrm>
            <a:off x="457200" y="1257300"/>
            <a:ext cx="8229600" cy="4064000"/>
          </a:xfrm>
        </p:spPr>
        <p:txBody>
          <a:bodyPr/>
          <a:lstStyle/>
          <a:p>
            <a:pPr marL="342900" indent="-171450">
              <a:buChar char="•"/>
            </a:pPr>
            <a:r>
              <a:rPr lang="en-US" sz="1800" solidFill="F5F7FA"/>
              <a:t>PostgreSQL: relational consistency, transactional integrity, rich querying.</a:t>
            </a:r>
          </a:p>
          <a:p>
            <a:pPr marL="342900" indent="-171450">
              <a:buChar char="•"/>
            </a:pPr>
            <a:r>
              <a:rPr lang="en-US" sz="1800" solidFill="F5F7FA"/>
              <a:t>Cassandra: horizontal scale, write/read fan-out, always-on distribution.</a:t>
            </a:r>
          </a:p>
          <a:p>
            <a:pPr marL="342900" indent="-171450">
              <a:buChar char="•"/>
            </a:pPr>
            <a:r>
              <a:rPr lang="en-US" sz="1800" solidFill="F5F7FA"/>
              <a:t>Design principle: role split by workload, not either/or replacement.</a:t>
            </a:r>
          </a:p>
        </p:txBody>
      </p:sp>
      <p:sp>
        <p:nvSpPr>
          <p:cNvPr id="4" name="Footer"/>
          <p:cNvSpPr/>
          <p:nvPr/>
        </p:nvSpPr>
        <p:spPr>
          <a:xfrm>
            <a:off x="457200" y="5791200"/>
            <a:ext cx="8229600" cy="342900"/>
          </a:xfrm>
        </p:spPr>
        <p:txBody>
          <a:bodyPr/>
          <a:lstStyle/>
          <a:p>
            <a:r>
              <a:rPr lang="en-US" sz="1300" solidFill="9FB0C0"/>
              <a:t>Clarified architecture decision for CTO audience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Python and Go Trade-Off</a:t>
            </a:r>
          </a:p>
        </p:txBody>
      </p:sp>
      <p:sp>
        <p:nvSpPr>
          <p:cNvPr id="3" name="Body"/>
          <p:cNvSpPr/>
          <p:nvPr/>
        </p:nvSpPr>
        <p:spPr>
          <a:xfrm>
            <a:off x="457200" y="1257300"/>
            <a:ext cx="8229600" cy="4064000"/>
          </a:xfrm>
        </p:spPr>
        <p:txBody>
          <a:bodyPr/>
          <a:lstStyle/>
          <a:p>
            <a:pPr marL="342900" indent="-171450">
              <a:buChar char="•"/>
            </a:pPr>
            <a:r>
              <a:rPr lang="en-US" sz="1800" solidFill="F5F7FA"/>
              <a:t>Python: fast development velocity and experimentation speed.</a:t>
            </a:r>
          </a:p>
          <a:p>
            <a:pPr marL="342900" indent="-171450">
              <a:buChar char="•"/>
            </a:pPr>
            <a:r>
              <a:rPr lang="en-US" sz="1800" solidFill="F5F7FA"/>
              <a:t>Go: strong runtime performance and concurrency efficiency.</a:t>
            </a:r>
          </a:p>
          <a:p>
            <a:pPr marL="342900" indent="-171450">
              <a:buChar char="•"/>
            </a:pPr>
            <a:r>
              <a:rPr lang="en-US" sz="1800" solidFill="F5F7FA"/>
              <a:t>Recommendation: migrate traffic-critical services incrementally.</a:t>
            </a:r>
          </a:p>
        </p:txBody>
      </p:sp>
      <p:sp>
        <p:nvSpPr>
          <p:cNvPr id="4" name="Footer"/>
          <p:cNvSpPr/>
          <p:nvPr/>
        </p:nvSpPr>
        <p:spPr>
          <a:xfrm>
            <a:off x="457200" y="5791200"/>
            <a:ext cx="8229600" cy="342900"/>
          </a:xfrm>
        </p:spPr>
        <p:txBody>
          <a:bodyPr/>
          <a:lstStyle/>
          <a:p>
            <a:r>
              <a:rPr lang="en-US" sz="1300" solidFill="9FB0C0"/>
              <a:t>Migration sequencing minimizes delivery risk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Database Design: DDL (SQL Only)</a:t>
            </a:r>
          </a:p>
        </p:txBody>
      </p:sp>
      <p:sp>
        <p:nvSpPr>
          <p:cNvPr id="3" name="Body"/>
          <p:cNvSpPr/>
          <p:nvPr/>
        </p:nvSpPr>
        <p:spPr>
          <a:xfrm>
            <a:off x="457200" y="1257300"/>
            <a:ext cx="8229600" cy="4064000"/>
          </a:xfrm>
        </p:spPr>
        <p:txBody>
          <a:bodyPr/>
          <a:lstStyle/>
          <a:p>
            <a:pPr marL="342900" indent="-171450">
              <a:buChar char="•"/>
            </a:pPr>
            <a:r>
              <a:rPr lang="en-US" sz="1800" solidFill="F5F7FA"/>
              <a:t>users(id, username, email, password_hash, created_at)</a:t>
            </a:r>
          </a:p>
          <a:p>
            <a:pPr marL="342900" indent="-171450">
              <a:buChar char="•"/>
            </a:pPr>
            <a:r>
              <a:rPr lang="en-US" sz="1800" solidFill="F5F7FA"/>
              <a:t>subreddits(id, name, created_by_user_id, created_at)</a:t>
            </a:r>
          </a:p>
          <a:p>
            <a:pPr marL="342900" indent="-171450">
              <a:buChar char="•"/>
            </a:pPr>
            <a:r>
              <a:rPr lang="en-US" sz="1800" solidFill="F5F7FA"/>
              <a:t>posts(id, subreddit_id, user_id, title, description, url, created_at)</a:t>
            </a:r>
          </a:p>
          <a:p>
            <a:pPr marL="342900" indent="-171450">
              <a:buChar char="•"/>
            </a:pPr>
            <a:r>
              <a:rPr lang="en-US" sz="1800" solidFill="F5F7FA"/>
              <a:t>comments/votes with FKs, cascades, and vote uniqueness constraints</a:t>
            </a:r>
          </a:p>
        </p:txBody>
      </p:sp>
      <p:sp>
        <p:nvSpPr>
          <p:cNvPr id="4" name="Footer"/>
          <p:cNvSpPr/>
          <p:nvPr/>
        </p:nvSpPr>
        <p:spPr>
          <a:xfrm>
            <a:off x="457200" y="5791200"/>
            <a:ext cx="8229600" cy="342900"/>
          </a:xfrm>
        </p:spPr>
        <p:txBody>
          <a:bodyPr/>
          <a:lstStyle/>
          <a:p>
            <a:r>
              <a:rPr lang="en-US" sz="1300" solidFill="9FB0C0"/>
              <a:t>Final deck rendering keeps this slide SQL-only style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Query + Index Strategy</a:t>
            </a:r>
          </a:p>
        </p:txBody>
      </p:sp>
      <p:sp>
        <p:nvSpPr>
          <p:cNvPr id="3" name="Body"/>
          <p:cNvSpPr/>
          <p:nvPr/>
        </p:nvSpPr>
        <p:spPr>
          <a:xfrm>
            <a:off x="457200" y="1257300"/>
            <a:ext cx="8229600" cy="4064000"/>
          </a:xfrm>
        </p:spPr>
        <p:txBody>
          <a:bodyPr/>
          <a:lstStyle/>
          <a:p>
            <a:pPr marL="342900" indent="-171450">
              <a:buChar char="•"/>
            </a:pPr>
            <a:r>
              <a:rPr lang="en-US" sz="1800" solidFill="F5F7FA"/>
              <a:t>Recent posts, top engagement, and user activity slices drive base query set.</a:t>
            </a:r>
          </a:p>
          <a:p>
            <a:pPr marL="342900" indent="-171450">
              <a:buChar char="•"/>
            </a:pPr>
            <a:r>
              <a:rPr lang="en-US" sz="1800" solidFill="F5F7FA"/>
              <a:t>Indexes align to read-heavy paths first; write cost monitored with telemetry.</a:t>
            </a:r>
          </a:p>
          <a:p>
            <a:pPr marL="342900" indent="-171450">
              <a:buChar char="•"/>
            </a:pPr>
            <a:r>
              <a:rPr lang="en-US" sz="1800" solidFill="F5F7FA"/>
              <a:t>Materialized views considered only after p95 latency and cache miss review.</a:t>
            </a:r>
          </a:p>
        </p:txBody>
      </p:sp>
      <p:sp>
        <p:nvSpPr>
          <p:cNvPr id="4" name="Footer"/>
          <p:cNvSpPr/>
          <p:nvPr/>
        </p:nvSpPr>
        <p:spPr>
          <a:xfrm>
            <a:off x="457200" y="5791200"/>
            <a:ext cx="8229600" cy="342900"/>
          </a:xfrm>
        </p:spPr>
        <p:txBody>
          <a:bodyPr/>
          <a:lstStyle/>
          <a:p>
            <a:r>
              <a:rPr lang="en-US" sz="1300" solidFill="9FB0C0"/>
              <a:t>Practical indexing decisions tied to observed workloads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31" name="DividerBar"/>
          <p:cNvSpPr/>
          <p:nvPr/>
        </p:nvSpPr>
        <p:spPr>
          <a:xfrm>
            <a:off x="457200" y="2286000"/>
            <a:ext cx="4000000" cy="68580"/>
          </a:xfrm>
          <a:prstGeom prst="rect">
            <a:avLst/>
          </a:prstGeom>
          <a:solidFill>
            <a:srgbClr val="003388">
              <a:alpha val="100000"/>
            </a:srgbClr>
          </a:solidFill>
          <a:ln>
            <a:noFill/>
          </a:ln>
        </p:spPr>
      </p:sp>
      <p:sp>
        <p:nvSpPr>
          <p:cNvPr id="32" name="DividerGlow"/>
          <p:cNvSpPr/>
          <p:nvPr/>
        </p:nvSpPr>
        <p:spPr>
          <a:xfrm>
            <a:off x="457200" y="2194500"/>
            <a:ext cx="4200000" cy="228600"/>
          </a:xfrm>
          <a:prstGeom prst="rect">
            <a:avLst/>
          </a:prstGeom>
          <a:solidFill>
            <a:srgbClr val="FF7B4D">
              <a:alpha val="18000"/>
            </a:srgbClr>
          </a:solidFill>
          <a:ln>
            <a:noFill/>
          </a:ln>
        </p:spPr>
      </p:sp>
      <p:sp>
        <p:nvSpPr>
          <p:cNvPr id="2" name="Title"/>
          <p:cNvSpPr/>
          <p:nvPr/>
        </p:nvSpPr>
        <p:spPr>
          <a:xfrm>
            <a:off x="457200" y="228600"/>
            <a:ext cx="8229600" cy="914400"/>
          </a:xfrm>
        </p:spPr>
        <p:txBody>
          <a:bodyPr/>
          <a:lstStyle/>
          <a:p>
            <a:r>
              <a:rPr lang="en-US" sz="3200" b="1" solidFill="003388"/>
              <a:t>Partnership and Commercial Strategy</a:t>
            </a:r>
          </a:p>
        </p:txBody>
      </p:sp>
      <p:sp>
        <p:nvSpPr>
          <p:cNvPr id="3" name="Body"/>
          <p:cNvSpPr/>
          <p:nvPr/>
        </p:nvSpPr>
        <p:spPr>
          <a:xfrm>
            <a:off x="457200" y="1257300"/>
            <a:ext cx="8229600" cy="4064000"/>
          </a:xfrm>
        </p:spPr>
        <p:txBody>
          <a:bodyPr/>
          <a:lstStyle/>
          <a:p>
            <a:r>
              <a:rPr lang="en-US" sz="2400" solidFill="F5F7FA"/>
              <a:t>Validated opportunities with measured economic upside</a:t>
            </a:r>
          </a:p>
        </p:txBody>
      </p:sp>
      <p:sp>
        <p:nvSpPr>
          <p:cNvPr id="4" name="Footer"/>
          <p:cNvSpPr/>
          <p:nvPr/>
        </p:nvSpPr>
        <p:spPr>
          <a:xfrm>
            <a:off x="457200" y="5791200"/>
            <a:ext cx="8229600" cy="342900"/>
          </a:xfrm>
        </p:spPr>
        <p:txBody>
          <a:bodyPr/>
          <a:lstStyle/>
          <a:p>
            <a:r>
              <a:rPr lang="en-US" sz="1300" solidFill="9FB0C0"/>
              <a:t>Focus on implementation realism and risk-adjusted returns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Partnership API Design</a:t>
            </a:r>
          </a:p>
        </p:txBody>
      </p:sp>
      <p:sp>
        <p:nvSpPr>
          <p:cNvPr id="3" name="Body"/>
          <p:cNvSpPr/>
          <p:nvPr/>
        </p:nvSpPr>
        <p:spPr>
          <a:xfrm>
            <a:off x="457200" y="1257300"/>
            <a:ext cx="8229600" cy="4064000"/>
          </a:xfrm>
        </p:spPr>
        <p:txBody>
          <a:bodyPr/>
          <a:lstStyle/>
          <a:p>
            <a:pPr marL="342900" indent="-171450">
              <a:buChar char="•"/>
            </a:pPr>
            <a:r>
              <a:rPr lang="en-US" sz="1800" solidFill="F5F7FA"/>
              <a:t>Priority opportunity: Strategic revenue-share partnership with Salesforce to embed Employee Navigator within broker CRM workflows</a:t>
            </a:r>
          </a:p>
          <a:p>
            <a:pPr marL="342900" indent="-171450">
              <a:buChar char="•"/>
            </a:pPr>
            <a:r>
              <a:rPr lang="en-US" sz="1800" solidFill="F5F7FA"/>
              <a:t>Endpoint pattern: /partner/search with query, segment, limit, sort parameters.</a:t>
            </a:r>
          </a:p>
          <a:p>
            <a:pPr marL="342900" indent="-171450">
              <a:buChar char="•"/>
            </a:pPr>
            <a:r>
              <a:rPr lang="en-US" sz="1800" solidFill="F5F7FA"/>
              <a:t>Response pattern: attributed records with trust metadata + conversion IDs.</a:t>
            </a:r>
          </a:p>
          <a:p>
            <a:pPr marL="342900" indent="-171450">
              <a:buChar char="•"/>
            </a:pPr>
            <a:r>
              <a:rPr lang="en-US" sz="1800" solidFill="F5F7FA"/>
              <a:t>Operational controls: auth scopes, quota policies, and abuse protections.</a:t>
            </a:r>
          </a:p>
        </p:txBody>
      </p:sp>
      <p:sp>
        <p:nvSpPr>
          <p:cNvPr id="4" name="Footer"/>
          <p:cNvSpPr/>
          <p:nvPr/>
        </p:nvSpPr>
        <p:spPr>
          <a:xfrm>
            <a:off x="457200" y="5791200"/>
            <a:ext cx="8229600" cy="342900"/>
          </a:xfrm>
        </p:spPr>
        <p:txBody>
          <a:bodyPr/>
          <a:lstStyle/>
          <a:p>
            <a:r>
              <a:rPr lang="en-US" sz="1300" solidFill="9FB0C0"/>
              <a:t>Partnership opportunities and monetization paths with explicit assumptions, risk-adjusted ROI, and implementation timeline.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80" name="Node1"/>
          <p:cNvSpPr/>
          <p:nvPr/>
        </p:nvSpPr>
        <p:spPr>
          <a:xfrm>
            <a:off x="548640" y="2194560"/>
            <a:ext cx="1234440" cy="503680"/>
          </a:xfrm>
          <a:prstGeom prst="rect">
            <a:avLst/>
          </a:prstGeom>
          <a:solidFill>
            <a:srgbClr val="FF7B4D">
              <a:alpha val="18000"/>
            </a:srgbClr>
          </a:solidFill>
          <a:ln>
            <a:noFill/>
          </a:ln>
        </p:spPr>
      </p:sp>
      <p:sp>
        <p:nvSpPr>
          <p:cNvPr id="81" name="NodeText1"/>
          <p:cNvSpPr/>
          <p:nvPr/>
        </p:nvSpPr>
        <p:spPr>
          <a:xfrm>
            <a:off x="617220" y="2297430"/>
            <a:ext cx="1097280" cy="297940"/>
          </a:xfrm>
        </p:spPr>
        <p:txBody>
          <a:bodyPr/>
          <a:lstStyle/>
          <a:p>
            <a:r>
              <a:rPr lang="en-US" sz="1200" b="1" solidFill="F5F7FA"/>
              <a:t>Partner Channel</a:t>
            </a:r>
          </a:p>
        </p:txBody>
      </p:sp>
      <p:sp>
        <p:nvSpPr>
          <p:cNvPr id="82" name="Node2"/>
          <p:cNvSpPr/>
          <p:nvPr/>
        </p:nvSpPr>
        <p:spPr>
          <a:xfrm>
            <a:off x="2103120" y="2194560"/>
            <a:ext cx="1143000" cy="503680"/>
          </a:xfrm>
          <a:prstGeom prst="rect">
            <a:avLst/>
          </a:prstGeom>
          <a:solidFill>
            <a:srgbClr val="FF7B4D">
              <a:alpha val="18000"/>
            </a:srgbClr>
          </a:solidFill>
          <a:ln>
            <a:noFill/>
          </a:ln>
        </p:spPr>
      </p:sp>
      <p:sp>
        <p:nvSpPr>
          <p:cNvPr id="83" name="NodeText2"/>
          <p:cNvSpPr/>
          <p:nvPr/>
        </p:nvSpPr>
        <p:spPr>
          <a:xfrm>
            <a:off x="2171700" y="2297430"/>
            <a:ext cx="1005840" cy="297940"/>
          </a:xfrm>
        </p:spPr>
        <p:txBody>
          <a:bodyPr/>
          <a:lstStyle/>
          <a:p>
            <a:r>
              <a:rPr lang="en-US" sz="1200" b="1" solidFill="F5F7FA"/>
              <a:t>Gateway</a:t>
            </a:r>
          </a:p>
        </p:txBody>
      </p:sp>
      <p:sp>
        <p:nvSpPr>
          <p:cNvPr id="84" name="Node3"/>
          <p:cNvSpPr/>
          <p:nvPr/>
        </p:nvSpPr>
        <p:spPr>
          <a:xfrm>
            <a:off x="3611880" y="1417320"/>
            <a:ext cx="1325880" cy="503680"/>
          </a:xfrm>
          <a:prstGeom prst="rect">
            <a:avLst/>
          </a:prstGeom>
          <a:solidFill>
            <a:srgbClr val="FF7B4D">
              <a:alpha val="18000"/>
            </a:srgbClr>
          </a:solidFill>
          <a:ln>
            <a:noFill/>
          </a:ln>
        </p:spPr>
      </p:sp>
      <p:sp>
        <p:nvSpPr>
          <p:cNvPr id="85" name="NodeText3"/>
          <p:cNvSpPr/>
          <p:nvPr/>
        </p:nvSpPr>
        <p:spPr>
          <a:xfrm>
            <a:off x="3680460" y="1520190"/>
            <a:ext cx="1188720" cy="297940"/>
          </a:xfrm>
        </p:spPr>
        <p:txBody>
          <a:bodyPr/>
          <a:lstStyle/>
          <a:p>
            <a:r>
              <a:rPr lang="en-US" sz="1200" b="1" solidFill="F5F7FA"/>
              <a:t>Auth + Quota</a:t>
            </a:r>
          </a:p>
        </p:txBody>
      </p:sp>
      <p:sp>
        <p:nvSpPr>
          <p:cNvPr id="86" name="Node4"/>
          <p:cNvSpPr/>
          <p:nvPr/>
        </p:nvSpPr>
        <p:spPr>
          <a:xfrm>
            <a:off x="3611880" y="2926080"/>
            <a:ext cx="1325880" cy="503680"/>
          </a:xfrm>
          <a:prstGeom prst="rect">
            <a:avLst/>
          </a:prstGeom>
          <a:solidFill>
            <a:srgbClr val="FF7B4D">
              <a:alpha val="18000"/>
            </a:srgbClr>
          </a:solidFill>
          <a:ln>
            <a:noFill/>
          </a:ln>
        </p:spPr>
      </p:sp>
      <p:sp>
        <p:nvSpPr>
          <p:cNvPr id="87" name="NodeText4"/>
          <p:cNvSpPr/>
          <p:nvPr/>
        </p:nvSpPr>
        <p:spPr>
          <a:xfrm>
            <a:off x="3680460" y="3028950"/>
            <a:ext cx="1188720" cy="297940"/>
          </a:xfrm>
        </p:spPr>
        <p:txBody>
          <a:bodyPr/>
          <a:lstStyle/>
          <a:p>
            <a:r>
              <a:rPr lang="en-US" sz="1200" b="1" solidFill="F5F7FA"/>
              <a:t>Ranking</a:t>
            </a:r>
          </a:p>
        </p:txBody>
      </p:sp>
      <p:sp>
        <p:nvSpPr>
          <p:cNvPr id="88" name="Node5"/>
          <p:cNvSpPr/>
          <p:nvPr/>
        </p:nvSpPr>
        <p:spPr>
          <a:xfrm>
            <a:off x="5387340" y="1417320"/>
            <a:ext cx="1325880" cy="503680"/>
          </a:xfrm>
          <a:prstGeom prst="rect">
            <a:avLst/>
          </a:prstGeom>
          <a:solidFill>
            <a:srgbClr val="FF7B4D">
              <a:alpha val="18000"/>
            </a:srgbClr>
          </a:solidFill>
          <a:ln>
            <a:noFill/>
          </a:ln>
        </p:spPr>
      </p:sp>
      <p:sp>
        <p:nvSpPr>
          <p:cNvPr id="89" name="NodeText5"/>
          <p:cNvSpPr/>
          <p:nvPr/>
        </p:nvSpPr>
        <p:spPr>
          <a:xfrm>
            <a:off x="5455920" y="1520190"/>
            <a:ext cx="1188720" cy="297940"/>
          </a:xfrm>
        </p:spPr>
        <p:txBody>
          <a:bodyPr/>
          <a:lstStyle/>
          <a:p>
            <a:r>
              <a:rPr lang="en-US" sz="1200" b="1" solidFill="F5F7FA"/>
              <a:t>Trust Policy</a:t>
            </a:r>
          </a:p>
        </p:txBody>
      </p:sp>
      <p:sp>
        <p:nvSpPr>
          <p:cNvPr id="90" name="Node6"/>
          <p:cNvSpPr/>
          <p:nvPr/>
        </p:nvSpPr>
        <p:spPr>
          <a:xfrm>
            <a:off x="6982460" y="2194560"/>
            <a:ext cx="1516380" cy="503680"/>
          </a:xfrm>
          <a:prstGeom prst="rect">
            <a:avLst/>
          </a:prstGeom>
          <a:solidFill>
            <a:srgbClr val="FF7B4D">
              <a:alpha val="18000"/>
            </a:srgbClr>
          </a:solidFill>
          <a:ln>
            <a:noFill/>
          </a:ln>
        </p:spPr>
      </p:sp>
      <p:sp>
        <p:nvSpPr>
          <p:cNvPr id="91" name="NodeText6"/>
          <p:cNvSpPr/>
          <p:nvPr/>
        </p:nvSpPr>
        <p:spPr>
          <a:xfrm>
            <a:off x="7051040" y="2297430"/>
            <a:ext cx="1379220" cy="297940"/>
          </a:xfrm>
        </p:spPr>
        <p:txBody>
          <a:bodyPr/>
          <a:lstStyle/>
          <a:p>
            <a:r>
              <a:rPr lang="en-US" sz="1200" b="1" solidFill="F5F7FA"/>
              <a:t>Attribution Response</a:t>
            </a:r>
          </a:p>
        </p:txBody>
      </p:sp>
      <p:sp>
        <p:nvSpPr>
          <p:cNvPr id="100" name="Link1"/>
          <p:cNvSpPr/>
          <p:nvPr/>
        </p:nvSpPr>
        <p:spPr>
          <a:xfrm>
            <a:off x="1783080" y="2446400"/>
            <a:ext cx="320040" cy="45720"/>
          </a:xfrm>
          <a:prstGeom prst="rect">
            <a:avLst/>
          </a:prstGeom>
          <a:solidFill>
            <a:srgbClr val="003388">
              <a:alpha val="70000"/>
            </a:srgbClr>
          </a:solidFill>
          <a:ln>
            <a:noFill/>
          </a:ln>
        </p:spPr>
      </p:sp>
      <p:sp>
        <p:nvSpPr>
          <p:cNvPr id="101" name="Link2"/>
          <p:cNvSpPr/>
          <p:nvPr/>
        </p:nvSpPr>
        <p:spPr>
          <a:xfrm>
            <a:off x="3246120" y="2446400"/>
            <a:ext cx="3736340" cy="45720"/>
          </a:xfrm>
          <a:prstGeom prst="rect">
            <a:avLst/>
          </a:prstGeom>
          <a:solidFill>
            <a:srgbClr val="003388">
              <a:alpha val="70000"/>
            </a:srgbClr>
          </a:solidFill>
          <a:ln>
            <a:noFill/>
          </a:ln>
        </p:spPr>
      </p:sp>
      <p:sp>
        <p:nvSpPr>
          <p:cNvPr id="102" name="Link3"/>
          <p:cNvSpPr/>
          <p:nvPr/>
        </p:nvSpPr>
        <p:spPr>
          <a:xfrm>
            <a:off x="4937760" y="1669160"/>
            <a:ext cx="449580" cy="45720"/>
          </a:xfrm>
          <a:prstGeom prst="rect">
            <a:avLst/>
          </a:prstGeom>
          <a:solidFill>
            <a:srgbClr val="003388">
              <a:alpha val="70000"/>
            </a:srgbClr>
          </a:solidFill>
          <a:ln>
            <a:noFill/>
          </a:ln>
        </p:spPr>
      </p:sp>
      <p:sp>
        <p:nvSpPr>
          <p:cNvPr id="2" name="Title"/>
          <p:cNvSpPr/>
          <p:nvPr/>
        </p:nvSpPr>
        <p:spPr>
          <a:xfrm>
            <a:off x="457200" y="228600"/>
            <a:ext cx="8229600" cy="914400"/>
          </a:xfrm>
        </p:spPr>
        <p:txBody>
          <a:bodyPr/>
          <a:lstStyle/>
          <a:p>
            <a:r>
              <a:rPr lang="en-US" sz="3200" b="1" solidFill="003388"/>
              <a:t>Partnership Architecture</a:t>
            </a:r>
          </a:p>
        </p:txBody>
      </p:sp>
      <p:sp>
        <p:nvSpPr>
          <p:cNvPr id="3" name="Body"/>
          <p:cNvSpPr/>
          <p:nvPr/>
        </p:nvSpPr>
        <p:spPr>
          <a:xfrm>
            <a:off x="457200" y="1257300"/>
            <a:ext cx="8229600" cy="4064000"/>
          </a:xfrm>
        </p:spPr>
        <p:txBody>
          <a:bodyPr/>
          <a:lstStyle/>
          <a:p>
            <a:pPr marL="342900" indent="-171450">
              <a:buChar char="•"/>
            </a:pPr>
            <a:r>
              <a:rPr lang="en-US" sz="1800" solidFill="F5F7FA"/>
              <a:t>Employee Navigator Partner -&gt; API Gateway -&gt; Auth/Rate Limit -&gt; Ranking -&gt; Trust &amp; Policy -&gt; Response</a:t>
            </a:r>
          </a:p>
          <a:p>
            <a:pPr marL="342900" indent="-171450">
              <a:buChar char="•"/>
            </a:pPr>
            <a:r>
              <a:rPr lang="en-US" sz="1800" solidFill="F5F7FA"/>
              <a:t>Trust, policy, and attribution are first-class control points.</a:t>
            </a:r>
          </a:p>
        </p:txBody>
      </p:sp>
      <p:sp>
        <p:nvSpPr>
          <p:cNvPr id="4" name="Footer"/>
          <p:cNvSpPr/>
          <p:nvPr/>
        </p:nvSpPr>
        <p:spPr>
          <a:xfrm>
            <a:off x="457200" y="5791200"/>
            <a:ext cx="8229600" cy="342900"/>
          </a:xfrm>
        </p:spPr>
        <p:txBody>
          <a:bodyPr/>
          <a:lstStyle/>
          <a:p>
            <a:r>
              <a:rPr lang="en-US" sz="1300" solidFill="9FB0C0"/>
              <a:t>Architecture primitives for CTO technical review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40" name="KpiCard1"/>
          <p:cNvSpPr/>
          <p:nvPr/>
        </p:nvSpPr>
        <p:spPr>
          <a:xfrm>
            <a:off x="571500" y="2011680"/>
            <a:ext cx="2286000" cy="1828800"/>
          </a:xfrm>
          <a:prstGeom prst="rect">
            <a:avLst/>
          </a:prstGeom>
          <a:solidFill>
            <a:srgbClr val="003388">
              <a:alpha val="14000"/>
            </a:srgbClr>
          </a:solidFill>
          <a:ln>
            <a:noFill/>
          </a:ln>
        </p:spPr>
      </p:sp>
      <p:sp>
        <p:nvSpPr>
          <p:cNvPr id="41" name="KpiTitle1"/>
          <p:cNvSpPr/>
          <p:nvPr/>
        </p:nvSpPr>
        <p:spPr>
          <a:xfrm>
            <a:off x="708660" y="2148840"/>
            <a:ext cx="2011680" cy="548640"/>
          </a:xfrm>
        </p:spPr>
        <p:txBody>
          <a:bodyPr/>
          <a:lstStyle/>
          <a:p>
            <a:r>
              <a:rPr lang="en-US" sz="1300" b="1" solidFill="F5F7FA"/>
              <a:t>Low Case (USD M)</a:t>
            </a:r>
          </a:p>
        </p:txBody>
      </p:sp>
      <p:sp>
        <p:nvSpPr>
          <p:cNvPr id="42" name="KpiValue1"/>
          <p:cNvSpPr/>
          <p:nvPr/>
        </p:nvSpPr>
        <p:spPr>
          <a:xfrm>
            <a:off x="708660" y="2651760"/>
            <a:ext cx="2011680" cy="685800"/>
          </a:xfrm>
        </p:spPr>
        <p:txBody>
          <a:bodyPr/>
          <a:lstStyle/>
          <a:p>
            <a:r>
              <a:rPr lang="en-US" sz="2600" b="1" solidFill="F5F7FA"/>
              <a:t>3.2</a:t>
            </a:r>
          </a:p>
        </p:txBody>
      </p:sp>
      <p:sp>
        <p:nvSpPr>
          <p:cNvPr id="43" name="KpiCard2"/>
          <p:cNvSpPr/>
          <p:nvPr/>
        </p:nvSpPr>
        <p:spPr>
          <a:xfrm>
            <a:off x="3314700" y="2011680"/>
            <a:ext cx="2286000" cy="1828800"/>
          </a:xfrm>
          <a:prstGeom prst="rect">
            <a:avLst/>
          </a:prstGeom>
          <a:solidFill>
            <a:srgbClr val="FF7B4D">
              <a:alpha val="18000"/>
            </a:srgbClr>
          </a:solidFill>
          <a:ln>
            <a:noFill/>
          </a:ln>
        </p:spPr>
      </p:sp>
      <p:sp>
        <p:nvSpPr>
          <p:cNvPr id="44" name="KpiTitle2"/>
          <p:cNvSpPr/>
          <p:nvPr/>
        </p:nvSpPr>
        <p:spPr>
          <a:xfrm>
            <a:off x="3451860" y="2148840"/>
            <a:ext cx="2011680" cy="548640"/>
          </a:xfrm>
        </p:spPr>
        <p:txBody>
          <a:bodyPr/>
          <a:lstStyle/>
          <a:p>
            <a:r>
              <a:rPr lang="en-US" sz="1300" b="1" solidFill="F5F7FA"/>
              <a:t>Base Case (USD M)</a:t>
            </a:r>
          </a:p>
        </p:txBody>
      </p:sp>
      <p:sp>
        <p:nvSpPr>
          <p:cNvPr id="45" name="KpiValue2"/>
          <p:cNvSpPr/>
          <p:nvPr/>
        </p:nvSpPr>
        <p:spPr>
          <a:xfrm>
            <a:off x="3451860" y="2651760"/>
            <a:ext cx="2011680" cy="685800"/>
          </a:xfrm>
        </p:spPr>
        <p:txBody>
          <a:bodyPr/>
          <a:lstStyle/>
          <a:p>
            <a:r>
              <a:rPr lang="en-US" sz="2600" b="1" solidFill="F5F7FA"/>
              <a:t>7.8</a:t>
            </a:r>
          </a:p>
        </p:txBody>
      </p:sp>
      <p:sp>
        <p:nvSpPr>
          <p:cNvPr id="46" name="KpiCard3"/>
          <p:cNvSpPr/>
          <p:nvPr/>
        </p:nvSpPr>
        <p:spPr>
          <a:xfrm>
            <a:off x="6057900" y="2011680"/>
            <a:ext cx="2286000" cy="1828800"/>
          </a:xfrm>
          <a:prstGeom prst="rect">
            <a:avLst/>
          </a:prstGeom>
          <a:solidFill>
            <a:srgbClr val="003388">
              <a:alpha val="14000"/>
            </a:srgbClr>
          </a:solidFill>
          <a:ln>
            <a:noFill/>
          </a:ln>
        </p:spPr>
      </p:sp>
      <p:sp>
        <p:nvSpPr>
          <p:cNvPr id="47" name="KpiTitle3"/>
          <p:cNvSpPr/>
          <p:nvPr/>
        </p:nvSpPr>
        <p:spPr>
          <a:xfrm>
            <a:off x="6195060" y="2148840"/>
            <a:ext cx="2011680" cy="548640"/>
          </a:xfrm>
        </p:spPr>
        <p:txBody>
          <a:bodyPr/>
          <a:lstStyle/>
          <a:p>
            <a:r>
              <a:rPr lang="en-US" sz="1300" b="1" solidFill="F5F7FA"/>
              <a:t>High Case (USD M)</a:t>
            </a:r>
          </a:p>
        </p:txBody>
      </p:sp>
      <p:sp>
        <p:nvSpPr>
          <p:cNvPr id="48" name="KpiValue3"/>
          <p:cNvSpPr/>
          <p:nvPr/>
        </p:nvSpPr>
        <p:spPr>
          <a:xfrm>
            <a:off x="6195060" y="2651760"/>
            <a:ext cx="2011680" cy="685800"/>
          </a:xfrm>
        </p:spPr>
        <p:txBody>
          <a:bodyPr/>
          <a:lstStyle/>
          <a:p>
            <a:r>
              <a:rPr lang="en-US" sz="2600" b="1" solidFill="F5F7FA"/>
              <a:t>15.6</a:t>
            </a:r>
          </a:p>
        </p:txBody>
      </p:sp>
      <p:sp>
        <p:nvSpPr>
          <p:cNvPr id="2" name="Title"/>
          <p:cNvSpPr/>
          <p:nvPr/>
        </p:nvSpPr>
        <p:spPr>
          <a:xfrm>
            <a:off x="457200" y="228600"/>
            <a:ext cx="8229600" cy="914400"/>
          </a:xfrm>
        </p:spPr>
        <p:txBody>
          <a:bodyPr/>
          <a:lstStyle/>
          <a:p>
            <a:r>
              <a:rPr lang="en-US" sz="3200" b="1" solidFill="003388"/>
              <a:t>Revenue Growth Model</a:t>
            </a:r>
          </a:p>
        </p:txBody>
      </p:sp>
      <p:sp>
        <p:nvSpPr>
          <p:cNvPr id="3" name="Body"/>
          <p:cNvSpPr/>
          <p:nvPr/>
        </p:nvSpPr>
        <p:spPr>
          <a:xfrm>
            <a:off x="457200" y="1257300"/>
            <a:ext cx="8229600" cy="4064000"/>
          </a:xfrm>
        </p:spPr>
        <p:txBody>
          <a:bodyPr/>
          <a:lstStyle/>
          <a:p>
            <a:pPr marL="342900" indent="-171450">
              <a:buChar char="•"/>
            </a:pPr>
            <a:r>
              <a:rPr lang="en-US" sz="1800" solidFill="F5F7FA"/>
              <a:t>12-month opportunity model with conservative, base, and upside cases.</a:t>
            </a:r>
          </a:p>
          <a:p>
            <a:pPr marL="342900" indent="-171450">
              <a:buChar char="•"/>
            </a:pPr>
            <a:r>
              <a:rPr lang="en-US" sz="1800" solidFill="F5F7FA"/>
              <a:t>Revenue lever: Premium analytics and benchmarking subscription tier for brokers at $200-500/month per broker</a:t>
            </a:r>
          </a:p>
          <a:p>
            <a:pPr marL="342900" indent="-171450">
              <a:buChar char="•"/>
            </a:pPr>
            <a:r>
              <a:rPr lang="en-US" sz="1800" solidFill="F5F7FA"/>
              <a:t>Revenue lever: API usage fees from carriers and payroll providers at $0.50-2.00 per enrollment transaction</a:t>
            </a:r>
          </a:p>
        </p:txBody>
      </p:sp>
      <p:sp>
        <p:nvSpPr>
          <p:cNvPr id="4" name="Footer"/>
          <p:cNvSpPr/>
          <p:nvPr/>
        </p:nvSpPr>
        <p:spPr>
          <a:xfrm>
            <a:off x="457200" y="5791200"/>
            <a:ext cx="8229600" cy="342900"/>
          </a:xfrm>
        </p:spPr>
        <p:txBody>
          <a:bodyPr/>
          <a:lstStyle/>
          <a:p>
            <a:r>
              <a:rPr lang="en-US" sz="1300" solidFill="9FB0C0"/>
              <a:t>Analytics tier adopted by 20-40% of existing broker base within 12 months | API transaction volume grows 50-100% through expanded carrier partnerships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60" name="BarLabel1"/>
          <p:cNvSpPr/>
          <p:nvPr/>
        </p:nvSpPr>
        <p:spPr>
          <a:xfrm>
            <a:off x="640080" y="2118360"/>
            <a:ext cx="2011680" cy="320040"/>
          </a:xfrm>
        </p:spPr>
        <p:txBody>
          <a:bodyPr/>
          <a:lstStyle/>
          <a:p>
            <a:r>
              <a:rPr lang="en-US" sz="1300" b="1" solidFill="F5F7FA"/>
              <a:t>Q1: Launch analytics MVP with top </a:t>
            </a:r>
          </a:p>
        </p:txBody>
      </p:sp>
      <p:sp>
        <p:nvSpPr>
          <p:cNvPr id="61" name="BarTrack1"/>
          <p:cNvSpPr/>
          <p:nvPr/>
        </p:nvSpPr>
        <p:spPr>
          <a:xfrm>
            <a:off x="2743200" y="2164080"/>
            <a:ext cx="3657600" cy="228600"/>
          </a:xfrm>
          <a:prstGeom prst="rect">
            <a:avLst/>
          </a:prstGeom>
          <a:solidFill>
            <a:srgbClr val="334155">
              <a:alpha val="70000"/>
            </a:srgbClr>
          </a:solidFill>
          <a:ln>
            <a:noFill/>
          </a:ln>
        </p:spPr>
      </p:sp>
      <p:sp>
        <p:nvSpPr>
          <p:cNvPr id="62" name="BarFill1"/>
          <p:cNvSpPr/>
          <p:nvPr/>
        </p:nvSpPr>
        <p:spPr>
          <a:xfrm>
            <a:off x="2743200" y="2164080"/>
            <a:ext cx="3108960" cy="228600"/>
          </a:xfrm>
          <a:prstGeom prst="rect">
            <a:avLst/>
          </a:prstGeom>
          <a:solidFill>
            <a:srgbClr val="003388">
              <a:alpha val="90000"/>
            </a:srgbClr>
          </a:solidFill>
          <a:ln>
            <a:noFill/>
          </a:ln>
        </p:spPr>
      </p:sp>
      <p:sp>
        <p:nvSpPr>
          <p:cNvPr id="63" name="BarValue1"/>
          <p:cNvSpPr/>
          <p:nvPr/>
        </p:nvSpPr>
        <p:spPr>
          <a:xfrm>
            <a:off x="6583680" y="2118360"/>
            <a:ext cx="1005840" cy="320040"/>
          </a:xfrm>
        </p:spPr>
        <p:txBody>
          <a:bodyPr/>
          <a:lstStyle/>
          <a:p>
            <a:r>
              <a:rPr lang="en-US" sz="1300" b="1" solidFill="F5F7FA"/>
              <a:t>85%</a:t>
            </a:r>
          </a:p>
        </p:txBody>
      </p:sp>
      <p:sp>
        <p:nvSpPr>
          <p:cNvPr id="64" name="BarLabel2"/>
          <p:cNvSpPr/>
          <p:nvPr/>
        </p:nvSpPr>
        <p:spPr>
          <a:xfrm>
            <a:off x="640080" y="2827020"/>
            <a:ext cx="2011680" cy="320040"/>
          </a:xfrm>
        </p:spPr>
        <p:txBody>
          <a:bodyPr/>
          <a:lstStyle/>
          <a:p>
            <a:r>
              <a:rPr lang="en-US" sz="1300" b="1" solidFill="F5F7FA"/>
              <a:t>Q2: Deploy API monetization framew</a:t>
            </a:r>
          </a:p>
        </p:txBody>
      </p:sp>
      <p:sp>
        <p:nvSpPr>
          <p:cNvPr id="65" name="BarTrack2"/>
          <p:cNvSpPr/>
          <p:nvPr/>
        </p:nvSpPr>
        <p:spPr>
          <a:xfrm>
            <a:off x="2743200" y="2872740"/>
            <a:ext cx="3657600" cy="228600"/>
          </a:xfrm>
          <a:prstGeom prst="rect">
            <a:avLst/>
          </a:prstGeom>
          <a:solidFill>
            <a:srgbClr val="334155">
              <a:alpha val="70000"/>
            </a:srgbClr>
          </a:solidFill>
          <a:ln>
            <a:noFill/>
          </a:ln>
        </p:spPr>
      </p:sp>
      <p:sp>
        <p:nvSpPr>
          <p:cNvPr id="66" name="BarFill2"/>
          <p:cNvSpPr/>
          <p:nvPr/>
        </p:nvSpPr>
        <p:spPr>
          <a:xfrm>
            <a:off x="2743200" y="2872740"/>
            <a:ext cx="2743200" cy="228600"/>
          </a:xfrm>
          <a:prstGeom prst="rect">
            <a:avLst/>
          </a:prstGeom>
          <a:solidFill>
            <a:srgbClr val="003388">
              <a:alpha val="90000"/>
            </a:srgbClr>
          </a:solidFill>
          <a:ln>
            <a:noFill/>
          </a:ln>
        </p:spPr>
      </p:sp>
      <p:sp>
        <p:nvSpPr>
          <p:cNvPr id="67" name="BarValue2"/>
          <p:cNvSpPr/>
          <p:nvPr/>
        </p:nvSpPr>
        <p:spPr>
          <a:xfrm>
            <a:off x="6583680" y="2827020"/>
            <a:ext cx="1005840" cy="320040"/>
          </a:xfrm>
        </p:spPr>
        <p:txBody>
          <a:bodyPr/>
          <a:lstStyle/>
          <a:p>
            <a:r>
              <a:rPr lang="en-US" sz="1300" b="1" solidFill="F5F7FA"/>
              <a:t>75%</a:t>
            </a:r>
          </a:p>
        </p:txBody>
      </p:sp>
      <p:sp>
        <p:nvSpPr>
          <p:cNvPr id="68" name="BarLabel3"/>
          <p:cNvSpPr/>
          <p:nvPr/>
        </p:nvSpPr>
        <p:spPr>
          <a:xfrm>
            <a:off x="640080" y="3535680"/>
            <a:ext cx="2011680" cy="320040"/>
          </a:xfrm>
        </p:spPr>
        <p:txBody>
          <a:bodyPr/>
          <a:lstStyle/>
          <a:p>
            <a:r>
              <a:rPr lang="en-US" sz="1300" b="1" solidFill="F5F7FA"/>
              <a:t>Q3: Launch Salesforce embedded exp</a:t>
            </a:r>
          </a:p>
        </p:txBody>
      </p:sp>
      <p:sp>
        <p:nvSpPr>
          <p:cNvPr id="69" name="BarTrack3"/>
          <p:cNvSpPr/>
          <p:nvPr/>
        </p:nvSpPr>
        <p:spPr>
          <a:xfrm>
            <a:off x="2743200" y="3581400"/>
            <a:ext cx="3657600" cy="228600"/>
          </a:xfrm>
          <a:prstGeom prst="rect">
            <a:avLst/>
          </a:prstGeom>
          <a:solidFill>
            <a:srgbClr val="334155">
              <a:alpha val="70000"/>
            </a:srgbClr>
          </a:solidFill>
          <a:ln>
            <a:noFill/>
          </a:ln>
        </p:spPr>
      </p:sp>
      <p:sp>
        <p:nvSpPr>
          <p:cNvPr id="70" name="BarFill3"/>
          <p:cNvSpPr/>
          <p:nvPr/>
        </p:nvSpPr>
        <p:spPr>
          <a:xfrm>
            <a:off x="2743200" y="3581400"/>
            <a:ext cx="2560320" cy="228600"/>
          </a:xfrm>
          <a:prstGeom prst="rect">
            <a:avLst/>
          </a:prstGeom>
          <a:solidFill>
            <a:srgbClr val="003388">
              <a:alpha val="90000"/>
            </a:srgbClr>
          </a:solidFill>
          <a:ln>
            <a:noFill/>
          </a:ln>
        </p:spPr>
      </p:sp>
      <p:sp>
        <p:nvSpPr>
          <p:cNvPr id="71" name="BarValue3"/>
          <p:cNvSpPr/>
          <p:nvPr/>
        </p:nvSpPr>
        <p:spPr>
          <a:xfrm>
            <a:off x="6583680" y="3535680"/>
            <a:ext cx="1005840" cy="320040"/>
          </a:xfrm>
        </p:spPr>
        <p:txBody>
          <a:bodyPr/>
          <a:lstStyle/>
          <a:p>
            <a:r>
              <a:rPr lang="en-US" sz="1300" b="1" solidFill="F5F7FA"/>
              <a:t>70%</a:t>
            </a:r>
          </a:p>
        </p:txBody>
      </p:sp>
      <p:sp>
        <p:nvSpPr>
          <p:cNvPr id="72" name="BarLabel4"/>
          <p:cNvSpPr/>
          <p:nvPr/>
        </p:nvSpPr>
        <p:spPr>
          <a:xfrm>
            <a:off x="640080" y="4244340"/>
            <a:ext cx="2011680" cy="320040"/>
          </a:xfrm>
        </p:spPr>
        <p:txBody>
          <a:bodyPr/>
          <a:lstStyle/>
          <a:p>
            <a:r>
              <a:rPr lang="en-US" sz="1300" b="1" solidFill="F5F7FA"/>
              <a:t>Q4: Scale professional services of</a:t>
            </a:r>
          </a:p>
        </p:txBody>
      </p:sp>
      <p:sp>
        <p:nvSpPr>
          <p:cNvPr id="73" name="BarTrack4"/>
          <p:cNvSpPr/>
          <p:nvPr/>
        </p:nvSpPr>
        <p:spPr>
          <a:xfrm>
            <a:off x="2743200" y="4290060"/>
            <a:ext cx="3657600" cy="228600"/>
          </a:xfrm>
          <a:prstGeom prst="rect">
            <a:avLst/>
          </a:prstGeom>
          <a:solidFill>
            <a:srgbClr val="334155">
              <a:alpha val="70000"/>
            </a:srgbClr>
          </a:solidFill>
          <a:ln>
            <a:noFill/>
          </a:ln>
        </p:spPr>
      </p:sp>
      <p:sp>
        <p:nvSpPr>
          <p:cNvPr id="74" name="BarFill4"/>
          <p:cNvSpPr/>
          <p:nvPr/>
        </p:nvSpPr>
        <p:spPr>
          <a:xfrm>
            <a:off x="2743200" y="4290060"/>
            <a:ext cx="2377440" cy="228600"/>
          </a:xfrm>
          <a:prstGeom prst="rect">
            <a:avLst/>
          </a:prstGeom>
          <a:solidFill>
            <a:srgbClr val="003388">
              <a:alpha val="90000"/>
            </a:srgbClr>
          </a:solidFill>
          <a:ln>
            <a:noFill/>
          </a:ln>
        </p:spPr>
      </p:sp>
      <p:sp>
        <p:nvSpPr>
          <p:cNvPr id="75" name="BarValue4"/>
          <p:cNvSpPr/>
          <p:nvPr/>
        </p:nvSpPr>
        <p:spPr>
          <a:xfrm>
            <a:off x="6583680" y="4244340"/>
            <a:ext cx="1005840" cy="320040"/>
          </a:xfrm>
        </p:spPr>
        <p:txBody>
          <a:bodyPr/>
          <a:lstStyle/>
          <a:p>
            <a:r>
              <a:rPr lang="en-US" sz="1300" b="1" solidFill="F5F7FA"/>
              <a:t>65%</a:t>
            </a:r>
          </a:p>
        </p:txBody>
      </p:sp>
      <p:sp>
        <p:nvSpPr>
          <p:cNvPr id="2" name="Title"/>
          <p:cNvSpPr/>
          <p:nvPr/>
        </p:nvSpPr>
        <p:spPr>
          <a:xfrm>
            <a:off x="457200" y="228600"/>
            <a:ext cx="8229600" cy="914400"/>
          </a:xfrm>
        </p:spPr>
        <p:txBody>
          <a:bodyPr/>
          <a:lstStyle/>
          <a:p>
            <a:r>
              <a:rPr lang="en-US" sz="3200" b="1" solidFill="003388"/>
              <a:t>Risk-Adjusted ROI and Delivery Timeline</a:t>
            </a:r>
          </a:p>
        </p:txBody>
      </p:sp>
      <p:sp>
        <p:nvSpPr>
          <p:cNvPr id="3" name="Body"/>
          <p:cNvSpPr/>
          <p:nvPr/>
        </p:nvSpPr>
        <p:spPr>
          <a:xfrm>
            <a:off x="457200" y="1257300"/>
            <a:ext cx="8229600" cy="4064000"/>
          </a:xfrm>
        </p:spPr>
        <p:txBody>
          <a:bodyPr/>
          <a:lstStyle/>
          <a:p>
            <a:pPr marL="342900" indent="-171450">
              <a:buChar char="•"/>
            </a:pPr>
            <a:r>
              <a:rPr lang="en-US" sz="1800" solidFill="F5F7FA"/>
              <a:t>Risk-adjusted ROI: Low 120% | Base 180% | High 260%</a:t>
            </a:r>
          </a:p>
          <a:p>
            <a:pPr marL="342900" indent="-171450">
              <a:buChar char="•"/>
            </a:pPr>
            <a:r>
              <a:rPr lang="en-US" sz="1800" solidFill="F5F7FA"/>
              <a:t>Expected payback window: 8 months</a:t>
            </a:r>
          </a:p>
          <a:p>
            <a:pPr marL="342900" indent="-171450">
              <a:buChar char="•"/>
            </a:pPr>
            <a:r>
              <a:rPr lang="en-US" sz="1800" solidFill="F5F7FA"/>
              <a:t>Indexes improve performance by matching exact access patterns.</a:t>
            </a:r>
          </a:p>
          <a:p>
            <a:pPr marL="342900" indent="-171450">
              <a:buChar char="•"/>
            </a:pPr>
            <a:r>
              <a:rPr lang="en-US" sz="1800" solidFill="F5F7FA"/>
              <a:t>Assumption: Current ARPU per broker is $2,000-5,000 annually based on employer portfolio size</a:t>
            </a:r>
          </a:p>
          <a:p>
            <a:pPr marL="342900" indent="-171450">
              <a:buChar char="•"/>
            </a:pPr>
            <a:r>
              <a:rPr lang="en-US" sz="1800" solidFill="F5F7FA"/>
              <a:t>Assumption: Platform processes 2-5 million enrollment transactions annually across all carriers</a:t>
            </a:r>
          </a:p>
        </p:txBody>
      </p:sp>
      <p:sp>
        <p:nvSpPr>
          <p:cNvPr id="4" name="Footer"/>
          <p:cNvSpPr/>
          <p:nvPr/>
        </p:nvSpPr>
        <p:spPr>
          <a:xfrm>
            <a:off x="457200" y="5791200"/>
            <a:ext cx="8229600" cy="342900"/>
          </a:xfrm>
        </p:spPr>
        <p:txBody>
          <a:bodyPr/>
          <a:lstStyle/>
          <a:p>
            <a:r>
              <a:rPr lang="en-US" sz="1300" solidFill="9FB0C0"/>
              <a:t>Timeline confidence decreases as scope expands; gates required each quarter.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3388"/>
        </a:solidFill>
        <a:effectLst/>
      </p:bgPr>
    </p:bg>
    <p:spTree>
      <p:nvGrpSpPr>
        <p:cNvPr id="1" name=""/>
        <p:cNvGrpSpPr/>
        <p:nvPr/>
      </p:nvGrpSpPr>
      <p:grpSpPr>
        <a:xfrm>
          <a:off x="0" y="0"/>
          <a:ext cx="0" cy="0"/>
          <a:chOff x="0" y="0"/>
          <a:chExt cx="0" cy="0"/>
        </a:xfrm>
      </p:grpSpPr>
      <p:sp>
        <p:nvSpPr>
          <p:cNvPr id="11" name="TopBand"/>
          <p:cNvSpPr/>
          <p:nvPr/>
        </p:nvSpPr>
        <p:spPr>
          <a:xfrm>
            <a:off x="0" y="0"/>
            <a:ext cx="9144000" cy="171450"/>
          </a:xfrm>
          <a:prstGeom prst="rect">
            <a:avLst/>
          </a:prstGeom>
          <a:solidFill>
            <a:srgbClr val="003388">
              <a:alpha val="90000"/>
            </a:srgbClr>
          </a:solidFill>
          <a:ln>
            <a:noFill/>
          </a:ln>
        </p:spPr>
      </p:sp>
      <p:sp>
        <p:nvSpPr>
          <p:cNvPr id="12" name="BottomBand"/>
          <p:cNvSpPr/>
          <p:nvPr/>
        </p:nvSpPr>
        <p:spPr>
          <a:xfrm>
            <a:off x="0" y="6643350"/>
            <a:ext cx="9144000" cy="214650"/>
          </a:xfrm>
          <a:prstGeom prst="rect">
            <a:avLst/>
          </a:prstGeom>
          <a:solidFill>
            <a:srgbClr val="FF7B4D">
              <a:alpha val="60000"/>
            </a:srgbClr>
          </a:solidFill>
          <a:ln>
            <a:noFill/>
          </a:ln>
        </p:spPr>
      </p:sp>
      <p:sp>
        <p:nvSpPr>
          <p:cNvPr id="13" name="LeftRail"/>
          <p:cNvSpPr/>
          <p:nvPr/>
        </p:nvSpPr>
        <p:spPr>
          <a:xfrm>
            <a:off x="228600" y="342900"/>
            <a:ext cx="68580" cy="5715000"/>
          </a:xfrm>
          <a:prstGeom prst="rect">
            <a:avLst/>
          </a:prstGeom>
          <a:solidFill>
            <a:srgbClr val="003388">
              <a:alpha val="75000"/>
            </a:srgbClr>
          </a:solidFill>
          <a:ln>
            <a:noFill/>
          </a:ln>
        </p:spPr>
      </p:sp>
      <p:sp>
        <p:nvSpPr>
          <p:cNvPr id="14" name="HaloOne"/>
          <p:cNvSpPr/>
          <p:nvPr/>
        </p:nvSpPr>
        <p:spPr>
          <a:xfrm>
            <a:off x="7162800" y="457200"/>
            <a:ext cx="1828800" cy="1828800"/>
          </a:xfrm>
          <a:prstGeom prst="ellipse">
            <a:avLst/>
          </a:prstGeom>
          <a:solidFill>
            <a:srgbClr val="FF7B4D">
              <a:alpha val="18000"/>
            </a:srgbClr>
          </a:solidFill>
          <a:ln>
            <a:noFill/>
          </a:ln>
        </p:spPr>
      </p:sp>
      <p:sp>
        <p:nvSpPr>
          <p:cNvPr id="15" name="HaloTwo"/>
          <p:cNvSpPr/>
          <p:nvPr/>
        </p:nvSpPr>
        <p:spPr>
          <a:xfrm>
            <a:off x="6400800" y="4724400"/>
            <a:ext cx="2438400" cy="2438400"/>
          </a:xfrm>
          <a:prstGeom prst="ellipse">
            <a:avLst/>
          </a:prstGeom>
          <a:solidFill>
            <a:srgbClr val="003388">
              <a:alpha val="12000"/>
            </a:srgbClr>
          </a:solidFill>
          <a:ln>
            <a:noFill/>
          </a:ln>
        </p:spPr>
      </p:sp>
      <p:sp>
        <p:nvSpPr>
          <p:cNvPr id="2" name="Title"/>
          <p:cNvSpPr/>
          <p:nvPr/>
        </p:nvSpPr>
        <p:spPr>
          <a:xfrm>
            <a:off x="457200" y="228600"/>
            <a:ext cx="8229600" cy="914400"/>
          </a:xfrm>
        </p:spPr>
        <p:txBody>
          <a:bodyPr/>
          <a:lstStyle/>
          <a:p>
            <a:r>
              <a:rPr lang="en-US" sz="3200" b="1" solidFill="003388"/>
              <a:t>Value I Bring</a:t>
            </a:r>
          </a:p>
        </p:txBody>
      </p:sp>
      <p:sp>
        <p:nvSpPr>
          <p:cNvPr id="3" name="Body"/>
          <p:cNvSpPr/>
          <p:nvPr/>
        </p:nvSpPr>
        <p:spPr>
          <a:xfrm>
            <a:off x="457200" y="1257300"/>
            <a:ext cx="8229600" cy="4064000"/>
          </a:xfrm>
        </p:spPr>
        <p:txBody>
          <a:bodyPr/>
          <a:lstStyle/>
          <a:p>
            <a:pPr marL="342900" indent="-171450">
              <a:buChar char="•"/>
            </a:pPr>
            <a:r>
              <a:rPr lang="en-US" sz="1800" solidFill="F5F7FA"/>
              <a:t>Strong bridge between product strategy and technical implementation.</a:t>
            </a:r>
          </a:p>
          <a:p>
            <a:pPr marL="342900" indent="-171450">
              <a:buChar char="•"/>
            </a:pPr>
            <a:r>
              <a:rPr lang="en-US" sz="1800" solidFill="F5F7FA"/>
              <a:t>Hands-on with APIs, data systems, and scalability decisions.</a:t>
            </a:r>
          </a:p>
          <a:p>
            <a:pPr marL="342900" indent="-171450">
              <a:buChar char="•"/>
            </a:pPr>
            <a:r>
              <a:rPr lang="en-US" sz="1800" solidFill="F5F7FA"/>
              <a:t>Translates business outcomes into execution-ready engineering plans.</a:t>
            </a:r>
          </a:p>
          <a:p>
            <a:pPr marL="342900" indent="-171450">
              <a:buChar char="•"/>
            </a:pPr>
            <a:r>
              <a:rPr lang="en-US" sz="1800" solidFill="F5F7FA"/>
              <a:t>Governance-first execution: relevance, trust, attribution, and SLA discipline.</a:t>
            </a:r>
          </a:p>
          <a:p>
            <a:pPr marL="342900" indent="-171450">
              <a:buChar char="•"/>
            </a:pPr>
            <a:r>
              <a:rPr lang="en-US" sz="1800" solidFill="F5F7FA"/>
              <a:t>These partnerships and integrations leverage our unique position at the center of the benefits ecosystem to create new revenue streams while strengthening our competitive moat. The combination of data monetization, API fees, and strategic channel partnerships can generate $8M+ in incremental ARR within 12 months with manageable technical risk. Priority should be the Salesforce integration and analytics platform, as they have the highest ROI and shortest path to market.</a:t>
            </a:r>
          </a:p>
        </p:txBody>
      </p:sp>
      <p:sp>
        <p:nvSpPr>
          <p:cNvPr id="4" name="Footer"/>
          <p:cNvSpPr/>
          <p:nvPr/>
        </p:nvSpPr>
        <p:spPr>
          <a:xfrm>
            <a:off x="457200" y="5791200"/>
            <a:ext cx="8229600" cy="342900"/>
          </a:xfrm>
        </p:spPr>
        <p:txBody>
          <a:bodyPr/>
          <a:lstStyle/>
          <a:p>
            <a:r>
              <a:rPr lang="en-US" sz="1300" solidFill="9FB0C0"/>
              <a:t>Confident close tailored for CTO audience</a:t>
            </a:r>
          </a:p>
        </p:txBody>
      </p:sp>
    </p:spTree>
  </p:cSld>
  <p:clrMapOvr>
    <a:masterClrMapping/>
  </p:clrMapOvr>
</p:sld>
</file>

<file path=ppt/theme/theme1.xml><?xml version="1.0" encoding="utf-8"?>
<a:theme xmlns:a="http://schemas.openxmlformats.org/drawingml/2006/main" name="Theme">
  <a:themeElements>
    <a:clrScheme name="Custom">
      <a:dk1>
        <a:srgbClr val="000000"/>
      </a:dk1>
      <a:lt1>
        <a:srgbClr val="FFFFFF"/>
      </a:lt1>
      <a:dk2>
        <a:srgbClr val="1F2937"/>
      </a:dk2>
      <a:lt2>
        <a:srgbClr val="F3F4F6"/>
      </a:lt2>
      <a:accent1>
        <a:srgbClr val="003388"/>
      </a:accent1>
      <a:accent2>
        <a:srgbClr val="FF7B4D"/>
      </a:accent2>
      <a:accent3>
        <a:srgbClr val="2DD4BF"/>
      </a:accent3>
      <a:accent4>
        <a:srgbClr val="64748B"/>
      </a:accent4>
      <a:accent5>
        <a:srgbClr val="94A3B8"/>
      </a:accent5>
      <a:accent6>
        <a:srgbClr val="CBD5E1"/>
      </a:accent6>
      <a:hlink>
        <a:srgbClr val="3B82F6"/>
      </a:hlink>
      <a:folHlink>
        <a:srgbClr val="7C3AED"/>
      </a:folHlink>
    </a:clrScheme>
    <a:fontScheme name="Fonts">
      <a:majorFont>
        <a:latin typeface="Calibri"/>
      </a:majorFont>
      <a:minorFont>
        <a:latin typeface="Calibri"/>
      </a:minorFont>
    </a:fontScheme>
    <a:fmtScheme name="Format">
      <a:fillStyleLst/>
      <a:lnStyleLst/>
      <a:effectStyleLst/>
      <a:bgFillStyleLst/>
    </a:fmtScheme>
  </a:themeElements>
</a:theme>
</file>

<file path=docProps/app.xml><?xml version="1.0" encoding="utf-8"?>
<Properties xmlns="http://schemas.openxmlformats.org/officeDocument/2006/extended-properties" xmlns:vt="http://schemas.openxmlformats.org/officeDocument/2006/docPropsVTypes">
  <Application>Microsoft Office PowerPoint</Application>
  <Slides>18</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CTO Interview Deck</dc:title>
  <dc:creator>PM Job Search Engine</dc:creator>
  <cp:lastModifiedBy>PM Job Search Engine</cp:lastModifiedBy>
  <dcterms:created xsi:type="dcterms:W3CDTF">2026-04-22T20:02:17.851Z</dcterms:created>
  <dcterms:modified xsi:type="dcterms:W3CDTF">2026-04-22T20:02:17.855Z</dcterms:modified>
</cp:coreProperties>
</file>